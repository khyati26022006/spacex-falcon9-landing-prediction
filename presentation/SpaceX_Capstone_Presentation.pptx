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333" r:id="rId61"/>
    <p:sldId id="334" r:id="rId62"/>
    <p:sldId id="335" r:id="rId63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72" d="100"/>
          <a:sy n="72" d="100"/>
        </p:scale>
        <p:origin x="13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Landing success</c:v>
                </c:pt>
              </c:strCache>
            </c:strRef>
          </c:tx>
          <c:spPr>
            <a:solidFill>
              <a:srgbClr val="0B49CB"/>
            </a:solidFill>
          </c:spPr>
          <c:dPt>
            <c:idx val="0"/>
            <c:spPr>
              <a:solidFill>
                <a:srgbClr val="1E9E5A"/>
              </a:solidFill>
            </c:spPr>
          </c:dPt>
          <c:dPt>
            <c:idx val="1"/>
            <c:spPr>
              <a:solidFill>
                <a:srgbClr val="1E9E5A"/>
              </a:solidFill>
            </c:spPr>
          </c:dPt>
          <c:dPt>
            <c:idx val="2"/>
            <c:spPr>
              <a:solidFill>
                <a:srgbClr val="F2A100"/>
              </a:solidFill>
            </c:spPr>
          </c:dPt>
          <c:dPt>
            <c:idx val="3"/>
            <c:spPr>
              <a:solidFill>
                <a:srgbClr val="F2A100"/>
              </a:solidFill>
            </c:spPr>
          </c:dPt>
          <c:dPt>
            <c:idx val="4"/>
            <c:spPr>
              <a:solidFill>
                <a:srgbClr val="F2A100"/>
              </a:solidFill>
            </c:spPr>
          </c:dPt>
          <c:dPt>
            <c:idx val="5"/>
            <c:spPr>
              <a:solidFill>
                <a:srgbClr val="F2A100"/>
              </a:solidFill>
            </c:spPr>
          </c:dPt>
          <c:dPt>
            <c:idx val="6"/>
            <c:spPr>
              <a:solidFill>
                <a:srgbClr val="F2A100"/>
              </a:solidFill>
            </c:spPr>
          </c:dPt>
          <c:cat>
            <c:strRef>
              <c:f>Sheet1!$A$2:$A$8</c:f>
              <c:strCache>
                <c:ptCount val="7"/>
                <c:pt idx="0">
                  <c:v>SSO (n=6)</c:v>
                </c:pt>
                <c:pt idx="1">
                  <c:v>LEO (n=25)</c:v>
                </c:pt>
                <c:pt idx="2">
                  <c:v>MEO (n=3)</c:v>
                </c:pt>
                <c:pt idx="3">
                  <c:v>LEO (ISS) (n=26)</c:v>
                </c:pt>
                <c:pt idx="4">
                  <c:v>GTO (n=30)</c:v>
                </c:pt>
                <c:pt idx="5">
                  <c:v>HEO (n=2)</c:v>
                </c:pt>
                <c:pt idx="6">
                  <c:v>Polar LEO (n=8)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0.8333333333333334</c:v>
                </c:pt>
                <c:pt idx="1">
                  <c:v>0.8</c:v>
                </c:pt>
                <c:pt idx="2">
                  <c:v>0.6666666666666666</c:v>
                </c:pt>
                <c:pt idx="3">
                  <c:v>0.5384615384615384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>
                  <a:solidFill>
                    <a:srgbClr val="0A2A6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D0D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8F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A2A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Landing success</c:v>
                </c:pt>
              </c:strCache>
            </c:strRef>
          </c:tx>
          <c:spPr>
            <a:ln w="38100">
              <a:solidFill>
                <a:srgbClr val="0B49CB"/>
              </a:solidFill>
            </a:ln>
          </c:spPr>
          <c:marker>
            <c:size val="9"/>
            <c:spPr>
              <a:solidFill>
                <a:srgbClr val="0B49CB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0.14285714285714285</c:v>
                </c:pt>
                <c:pt idx="5">
                  <c:v>0.625</c:v>
                </c:pt>
                <c:pt idx="6">
                  <c:v>0.7777777777777778</c:v>
                </c:pt>
                <c:pt idx="7">
                  <c:v>0.5</c:v>
                </c:pt>
                <c:pt idx="8">
                  <c:v>0.9090909090909091</c:v>
                </c:pt>
                <c:pt idx="9">
                  <c:v>0.875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12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E3E8F3"/>
              </a:solidFill>
            </a:ln>
          </c:spPr>
        </c:majorGridlines>
        <c:numFmt formatCode="0%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0A2A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B49CB"/>
            </a:solidFill>
          </c:spPr>
          <c:dPt>
            <c:idx val="0"/>
            <c:spPr>
              <a:solidFill>
                <a:srgbClr val="5B6577"/>
              </a:solidFill>
            </c:spPr>
          </c:dPt>
          <c:dPt>
            <c:idx val="1"/>
            <c:spPr>
              <a:solidFill>
                <a:srgbClr val="D64545"/>
              </a:solidFill>
            </c:spPr>
          </c:dPt>
          <c:dPt>
            <c:idx val="2"/>
            <c:spPr>
              <a:solidFill>
                <a:srgbClr val="1E9E5A"/>
              </a:solidFill>
            </c:spPr>
          </c:dPt>
          <c:dPt>
            <c:idx val="3"/>
            <c:spPr>
              <a:solidFill>
                <a:srgbClr val="F2A100"/>
              </a:solidFill>
            </c:spPr>
          </c:dPt>
          <c:dPt>
            <c:idx val="4"/>
            <c:spPr>
              <a:solidFill>
                <a:srgbClr val="1E9E5A"/>
              </a:solidFill>
            </c:spPr>
          </c:dPt>
          <c:dPt>
            <c:idx val="5"/>
            <c:spPr>
              <a:solidFill>
                <a:srgbClr val="D64545"/>
              </a:solidFill>
            </c:spPr>
          </c:dPt>
          <c:dPt>
            <c:idx val="6"/>
            <c:spPr>
              <a:solidFill>
                <a:srgbClr val="F2A100"/>
              </a:solidFill>
            </c:spPr>
          </c:dPt>
          <c:dPt>
            <c:idx val="7"/>
            <c:spPr>
              <a:solidFill>
                <a:srgbClr val="F2A100"/>
              </a:solidFill>
            </c:spPr>
          </c:dPt>
          <c:cat>
            <c:strRef>
              <c:f>Sheet1!$A$2:$A$9</c:f>
              <c:strCache>
                <c:ptCount val="8"/>
                <c:pt idx="0">
                  <c:v>No attempt</c:v>
                </c:pt>
                <c:pt idx="1">
                  <c:v>Failure (drone ship)</c:v>
                </c:pt>
                <c:pt idx="2">
                  <c:v>Success (drone ship)</c:v>
                </c:pt>
                <c:pt idx="3">
                  <c:v>Controlled (ocean)</c:v>
                </c:pt>
                <c:pt idx="4">
                  <c:v>Success (ground pad)</c:v>
                </c:pt>
                <c:pt idx="5">
                  <c:v>Failure (parachute)</c:v>
                </c:pt>
                <c:pt idx="6">
                  <c:v>Uncontrolled (ocean)</c:v>
                </c:pt>
                <c:pt idx="7">
                  <c:v>Precluded (drone ship)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5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0A2A6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D0D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Gridlines>
          <c:spPr>
            <a:ln>
              <a:solidFill>
                <a:srgbClr val="E3E8F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A2A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Successful landings</c:v>
                </c:pt>
              </c:strCache>
            </c:strRef>
          </c:tx>
          <c:dPt>
            <c:idx val="0"/>
            <c:spPr>
              <a:solidFill>
                <a:srgbClr val="0B49CB"/>
              </a:solidFill>
            </c:spPr>
          </c:dPt>
          <c:dPt>
            <c:idx val="1"/>
            <c:spPr>
              <a:solidFill>
                <a:srgbClr val="F2A100"/>
              </a:solidFill>
            </c:spPr>
          </c:dPt>
          <c:dPt>
            <c:idx val="2"/>
            <c:spPr>
              <a:solidFill>
                <a:srgbClr val="1E9E5A"/>
              </a:solidFill>
            </c:spPr>
          </c:dPt>
          <c:dPt>
            <c:idx val="3"/>
            <c:spPr>
              <a:solidFill>
                <a:srgbClr val="D64545"/>
              </a:solidFill>
            </c:spPr>
          </c:dPt>
          <c:cat>
            <c:strRef>
              <c:f>Sheet1!$A$2:$A$5</c:f>
              <c:strCache>
                <c:ptCount val="4"/>
                <c:pt idx="0">
                  <c:v>CCAFS LC-40</c:v>
                </c:pt>
                <c:pt idx="1">
                  <c:v>CCAFS SLC-40</c:v>
                </c:pt>
                <c:pt idx="2">
                  <c:v>KSC LC-39A</c:v>
                </c:pt>
                <c:pt idx="3">
                  <c:v>VAFB SLC-4E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10</c:v>
                </c:pt>
                <c:pt idx="3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300">
          <a:solidFill>
            <a:srgbClr val="0A2A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KSC LC-39A</c:v>
                </c:pt>
              </c:strCache>
            </c:strRef>
          </c:tx>
          <c:dPt>
            <c:idx val="0"/>
            <c:spPr>
              <a:solidFill>
                <a:srgbClr val="1E9E5A"/>
              </a:solidFill>
            </c:spPr>
          </c:dPt>
          <c:dPt>
            <c:idx val="1"/>
            <c:spPr>
              <a:solidFill>
                <a:srgbClr val="D64545"/>
              </a:solidFill>
            </c:spPr>
          </c:dPt>
          <c:cat>
            <c:strRef>
              <c:f>Sheet1!$A$2:$A$3</c:f>
              <c:strCache>
                <c:ptCount val="2"/>
                <c:pt idx="0">
                  <c:v>Success</c:v>
                </c:pt>
                <c:pt idx="1">
                  <c:v>Failure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5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0A2A66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10-fold CV accuracy</c:v>
                </c:pt>
              </c:strCache>
            </c:strRef>
          </c:tx>
          <c:spPr>
            <a:solidFill>
              <a:srgbClr val="0B49CB"/>
            </a:solidFill>
          </c:spPr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0.7625</c:v>
                </c:pt>
                <c:pt idx="1">
                  <c:v>0.775</c:v>
                </c:pt>
                <c:pt idx="2">
                  <c:v>0.7875</c:v>
                </c:pt>
                <c:pt idx="3">
                  <c:v>0.775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F2A100"/>
            </a:solidFill>
          </c:spPr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0.6666666666666666</c:v>
                </c:pt>
                <c:pt idx="1">
                  <c:v>0.6190476190476191</c:v>
                </c:pt>
                <c:pt idx="2">
                  <c:v>0.7142857142857143</c:v>
                </c:pt>
                <c:pt idx="3">
                  <c:v>0.7142857142857143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>
                  <a:solidFill>
                    <a:srgbClr val="0A2A6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D0D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8F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A2A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boosters</c:v>
                </c:pt>
              </c:strCache>
            </c:strRef>
          </c:tx>
          <c:spPr>
            <a:solidFill>
              <a:srgbClr val="A9B8DB"/>
            </a:solidFill>
          </c:spPr>
          <c:cat>
            <c:strRef>
              <c:f>Sheet1!$A$2:$A$5</c:f>
              <c:strCache>
                <c:ptCount val="4"/>
                <c:pt idx="0">
                  <c:v>CCAFS LC-40</c:v>
                </c:pt>
                <c:pt idx="1">
                  <c:v>CCAFS SLC-40</c:v>
                </c:pt>
                <c:pt idx="2">
                  <c:v>KSC LC-39A</c:v>
                </c:pt>
                <c:pt idx="3">
                  <c:v>VAFB SLC-4E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0.2692307692307692</c:v>
                </c:pt>
                <c:pt idx="1">
                  <c:v>0.42857142857142855</c:v>
                </c:pt>
                <c:pt idx="2">
                  <c:v>0.7692307692307693</c:v>
                </c:pt>
                <c:pt idx="3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Modern boosters only (FT, B4, B5)</c:v>
                </c:pt>
              </c:strCache>
            </c:strRef>
          </c:tx>
          <c:spPr>
            <a:solidFill>
              <a:srgbClr val="0B49CB"/>
            </a:solidFill>
          </c:spPr>
          <c:cat>
            <c:strRef>
              <c:f>Sheet1!$A$2:$A$5</c:f>
              <c:strCache>
                <c:ptCount val="4"/>
                <c:pt idx="0">
                  <c:v>CCAFS LC-40</c:v>
                </c:pt>
                <c:pt idx="1">
                  <c:v>CCAFS SLC-40</c:v>
                </c:pt>
                <c:pt idx="2">
                  <c:v>KSC LC-39A</c:v>
                </c:pt>
                <c:pt idx="3">
                  <c:v>VAFB SLC-4E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0.75</c:v>
                </c:pt>
                <c:pt idx="1">
                  <c:v>0.42857142857142855</c:v>
                </c:pt>
                <c:pt idx="2">
                  <c:v>0.7692307692307693</c:v>
                </c:pt>
                <c:pt idx="3">
                  <c:v>0.5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>
                  <a:solidFill>
                    <a:srgbClr val="0A2A6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D0D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8F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A2A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Landing success</c:v>
                </c:pt>
              </c:strCache>
            </c:strRef>
          </c:tx>
          <c:spPr>
            <a:solidFill>
              <a:srgbClr val="0B49CB"/>
            </a:solidFill>
          </c:spPr>
          <c:dPt>
            <c:idx val="0"/>
            <c:spPr>
              <a:solidFill>
                <a:srgbClr val="1E9E5A"/>
              </a:solidFill>
            </c:spPr>
          </c:dPt>
          <c:dPt>
            <c:idx val="1"/>
            <c:spPr>
              <a:solidFill>
                <a:srgbClr val="F2A100"/>
              </a:solidFill>
            </c:spPr>
          </c:dPt>
          <c:dPt>
            <c:idx val="2"/>
            <c:spPr>
              <a:solidFill>
                <a:srgbClr val="D64545"/>
              </a:solidFill>
            </c:spPr>
          </c:dPt>
          <c:cat>
            <c:strRef>
              <c:f>Sheet1!$A$2:$A$4</c:f>
              <c:strCache>
                <c:ptCount val="3"/>
                <c:pt idx="0">
                  <c:v>Up to 4,000 kg (n=18)</c:v>
                </c:pt>
                <c:pt idx="1">
                  <c:v>4,000-6,000 kg (n=9)</c:v>
                </c:pt>
                <c:pt idx="2">
                  <c:v>Over 6,000 kg (n=9)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0.8333333333333334</c:v>
                </c:pt>
                <c:pt idx="1">
                  <c:v>0.5555555555555556</c:v>
                </c:pt>
                <c:pt idx="2">
                  <c:v>0.3333333333333333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>
                  <a:solidFill>
                    <a:srgbClr val="0A2A6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D0DE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8F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0A2A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business question: can a new entrant (Space Y) predict whether a Falcon 9 first stage will land, and therefore what a launch really costs?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answer: landing success climbed from 0% to about 88% as the Falcon 9 matured; booster generation and payload are the dominant drivers; a tuned Decision Tree is the best of four models, but the test set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stakes: $62M versus $165M. Each question maps to a results section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answer: yes, landing is predictable enough to inform pricing, driven mainly by booster generation and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Innovative insight: a naive site comparison misleads. Controlling for booster generation closes most of the gap between CCAFS LC-40 and KSC LC-39A.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Caveat: class 0 includes launches where no landing was attempted, so heavy GTO missions are partly an economic choice, not only a physical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decision matrix: ties the model and EDA findings back to the pricing problem from the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chart" Target="../charts/char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chart" Target="../charts/char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chart" Target="../charts/char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chart" Target="../charts/char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58521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 sz="160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Khyati Kendhe</a:t>
            </a:r>
          </a:p>
          <a:p>
            <a:r>
              <a:rPr lang="en-US" dirty="0" sz="160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October 21, 2026</a:t>
            </a:r>
          </a:p>
          <a:p>
            <a:r>
              <a:rPr lang="en-US" dirty="0" sz="160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Applied Data Science Capstone  |  Falcon 9 first-stage landing prediction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155448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96695" y="1783080"/>
            <a:ext cx="457200" cy="45720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237744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0A2A66"/>
                </a:solidFill>
                <a:latin typeface="Calibri"/>
              </a:rPr>
              <a:t>Executive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" y="2788920"/>
            <a:ext cx="30175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What we did and what we found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155448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654296" y="1783080"/>
            <a:ext cx="457200" cy="45720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237744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0A2A66"/>
                </a:solidFill>
                <a:latin typeface="Calibri"/>
              </a:rPr>
              <a:t>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2788920"/>
            <a:ext cx="30175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Business problem and questions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155448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311896" y="1783080"/>
            <a:ext cx="457200" cy="45720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37744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0A2A66"/>
                </a:solidFill>
                <a:latin typeface="Calibri"/>
              </a:rPr>
              <a:t>Methodology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2788920"/>
            <a:ext cx="30175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Collection, wrangling, EDA, visual analytics, modelling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" y="370332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96695" y="3931920"/>
            <a:ext cx="457200" cy="45720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" y="452628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0A2A66"/>
                </a:solidFill>
                <a:latin typeface="Calibri"/>
              </a:rPr>
              <a:t>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" y="4937760"/>
            <a:ext cx="30175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EDA, SQL, Folium, Dash, classification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5696" y="370332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4654296" y="3931920"/>
            <a:ext cx="457200" cy="45720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4296" y="452628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0A2A66"/>
                </a:solidFill>
                <a:latin typeface="Calibri"/>
              </a:rPr>
              <a:t>Conclusion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54296" y="4937760"/>
            <a:ext cx="30175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Insights, recommendations, next steps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370332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8311896" y="3931920"/>
            <a:ext cx="457200" cy="45720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452628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0A2A66"/>
                </a:solidFill>
                <a:latin typeface="Calibri"/>
              </a:rPr>
              <a:t>Appendix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4937760"/>
            <a:ext cx="30175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Code, queries and repository</a:t>
            </a:r>
          </a:p>
        </p:txBody>
      </p:sp>
      <p:sp>
        <p:nvSpPr>
          <p:cNvPr id="44" name="GitHub link"/>
          <p:cNvSpPr/>
          <p:nvPr/>
        </p:nvSpPr>
        <p:spPr>
          <a:xfrm>
            <a:off x="768096" y="5806440"/>
            <a:ext cx="434340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 repository: github.com/&lt;your-username&gt;/&lt;your-repo&gt;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8096" y="1417320"/>
            <a:ext cx="51206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0976" y="150876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0B49CB"/>
                </a:solidFill>
                <a:latin typeface="Calibri"/>
              </a:rPr>
              <a:t>Methodology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1965960"/>
            <a:ext cx="475488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1400"/>
              </a:spcAft>
              <a:buClr>
                <a:srgbClr val="0B49CB"/>
              </a:buClr>
              <a:buChar char="•"/>
            </a:pPr>
            <a:r>
              <a:rPr sz="1700" b="0" i="0">
                <a:solidFill>
                  <a:srgbClr val="0A2A66"/>
                </a:solidFill>
                <a:latin typeface="Calibri"/>
              </a:rPr>
              <a:t/>
            </a:r>
            <a:r>
              <a:rPr b="1" sz="1700">
                <a:solidFill>
                  <a:srgbClr val="0A2A66"/>
                </a:solidFill>
                <a:latin typeface="Calibri"/>
              </a:rPr>
              <a:t>Collect: </a:t>
            </a:r>
            <a:r>
              <a:rPr sz="1700">
                <a:solidFill>
                  <a:srgbClr val="0A2A66"/>
                </a:solidFill>
                <a:latin typeface="Calibri"/>
              </a:rPr>
              <a:t>SpaceX REST API + Wikipedia web scraping</a:t>
            </a:r>
          </a:p>
          <a:p>
            <a:pPr marL="228600" indent="-228600">
              <a:spcAft>
                <a:spcPts val="1400"/>
              </a:spcAft>
              <a:buClr>
                <a:srgbClr val="0B49CB"/>
              </a:buClr>
              <a:buChar char="•"/>
            </a:pPr>
            <a:r>
              <a:rPr b="1" sz="1700">
                <a:solidFill>
                  <a:srgbClr val="0A2A66"/>
                </a:solidFill>
                <a:latin typeface="Calibri"/>
              </a:rPr>
              <a:t>Wrangle: </a:t>
            </a:r>
            <a:r>
              <a:rPr sz="1700">
                <a:solidFill>
                  <a:srgbClr val="0A2A66"/>
                </a:solidFill>
                <a:latin typeface="Calibri"/>
              </a:rPr>
              <a:t>clean, impute, define a binary landing Class</a:t>
            </a:r>
          </a:p>
          <a:p>
            <a:pPr marL="228600" indent="-228600">
              <a:spcAft>
                <a:spcPts val="1400"/>
              </a:spcAft>
              <a:buClr>
                <a:srgbClr val="0B49CB"/>
              </a:buClr>
              <a:buChar char="•"/>
            </a:pPr>
            <a:r>
              <a:rPr b="1" sz="1700">
                <a:solidFill>
                  <a:srgbClr val="0A2A66"/>
                </a:solidFill>
                <a:latin typeface="Calibri"/>
              </a:rPr>
              <a:t>Explore: </a:t>
            </a:r>
            <a:r>
              <a:rPr sz="1700">
                <a:solidFill>
                  <a:srgbClr val="0A2A66"/>
                </a:solidFill>
                <a:latin typeface="Calibri"/>
              </a:rPr>
              <a:t>visual EDA and SQL on 101 Falcon launches</a:t>
            </a:r>
          </a:p>
          <a:p>
            <a:pPr marL="228600" indent="-228600">
              <a:spcAft>
                <a:spcPts val="1400"/>
              </a:spcAft>
              <a:buClr>
                <a:srgbClr val="0B49CB"/>
              </a:buClr>
              <a:buChar char="•"/>
            </a:pPr>
            <a:r>
              <a:rPr b="1" sz="1700">
                <a:solidFill>
                  <a:srgbClr val="0A2A66"/>
                </a:solidFill>
                <a:latin typeface="Calibri"/>
              </a:rPr>
              <a:t>Visualise: </a:t>
            </a:r>
            <a:r>
              <a:rPr sz="1700">
                <a:solidFill>
                  <a:srgbClr val="0A2A66"/>
                </a:solidFill>
                <a:latin typeface="Calibri"/>
              </a:rPr>
              <a:t>Folium site maps, Plotly Dash dashboard</a:t>
            </a:r>
          </a:p>
          <a:p>
            <a:pPr marL="228600" indent="-228600">
              <a:spcAft>
                <a:spcPts val="1400"/>
              </a:spcAft>
              <a:buClr>
                <a:srgbClr val="0B49CB"/>
              </a:buClr>
              <a:buChar char="•"/>
            </a:pPr>
            <a:r>
              <a:rPr b="1" sz="1700">
                <a:solidFill>
                  <a:srgbClr val="0A2A66"/>
                </a:solidFill>
                <a:latin typeface="Calibri"/>
              </a:rPr>
              <a:t>Predict: </a:t>
            </a:r>
            <a:r>
              <a:rPr sz="1700">
                <a:solidFill>
                  <a:srgbClr val="0A2A66"/>
                </a:solidFill>
                <a:latin typeface="Calibri"/>
              </a:rPr>
              <a:t>Logistic Regression, SVM, Decision Tree, KNN tuned with 10-fold GridSearchCV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41732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0B49CB"/>
                </a:solidFill>
                <a:latin typeface="Calibri"/>
              </a:rPr>
              <a:t>Key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78308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55079" y="1874519"/>
            <a:ext cx="22860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0B49CB"/>
                </a:solidFill>
                <a:latin typeface="Calibri"/>
              </a:rPr>
              <a:t>61 of 101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2686507"/>
            <a:ext cx="2286000" cy="7644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launches landed the first stage (2010-2020)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78308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06840" y="1874519"/>
            <a:ext cx="22860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1E9E5A"/>
                </a:solidFill>
                <a:latin typeface="Calibri"/>
              </a:rPr>
              <a:t>0% to 88%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86507"/>
            <a:ext cx="2286000" cy="7644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yearly landing success, 2014 to 2020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0332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55079" y="3794759"/>
            <a:ext cx="22860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F2A100"/>
                </a:solidFill>
                <a:latin typeface="Calibri"/>
              </a:rPr>
              <a:t>77%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4606747"/>
            <a:ext cx="2286000" cy="7644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best site success rate: KSC LC-39A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370332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06840" y="3794759"/>
            <a:ext cx="22860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 i="0">
                <a:solidFill>
                  <a:srgbClr val="D64545"/>
                </a:solidFill>
                <a:latin typeface="Calibri"/>
              </a:rPr>
              <a:t>71%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606747"/>
            <a:ext cx="2286000" cy="7644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best model test accuracy (Decision Tree)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6692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B6577"/>
                </a:solidFill>
                <a:latin typeface="Calibri"/>
              </a:rPr>
              <a:t>Booster generation and payload explain most of the variation.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8096" y="1417320"/>
            <a:ext cx="493776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0976" y="150876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0B49CB"/>
                </a:solidFill>
                <a:latin typeface="Calibri"/>
              </a:rPr>
              <a:t>Background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1965960"/>
            <a:ext cx="45720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SpaceX reuses the Falcon 9 first stage, which is why it can advertise launches at a fraction of the price of competitors.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" y="324612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6" y="3337560"/>
            <a:ext cx="1920239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200" b="1" i="0">
                <a:solidFill>
                  <a:srgbClr val="1E9E5A"/>
                </a:solidFill>
                <a:latin typeface="Calibri"/>
              </a:rPr>
              <a:t>$62M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3959352"/>
            <a:ext cx="1920239" cy="603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SpaceX Falcon 9 price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24612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291840" y="3337560"/>
            <a:ext cx="21031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200" b="1" i="0">
                <a:solidFill>
                  <a:srgbClr val="D64545"/>
                </a:solidFill>
                <a:latin typeface="Calibri"/>
              </a:rPr>
              <a:t>$165M+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959352"/>
            <a:ext cx="2103120" cy="603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typical competitor 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754880"/>
            <a:ext cx="45720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If we can predict whether the first stage lands, we can estimate the real cost of a launch, and a new entrant (Space Y) can bid more intelligently.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141732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0B49CB"/>
                </a:solidFill>
                <a:latin typeface="Calibri"/>
              </a:rPr>
              <a:t>Questions to 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1874519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263640" y="2240279"/>
            <a:ext cx="384048" cy="384048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965960"/>
            <a:ext cx="443484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Which factors drive landing success: launch site, orbit, payload, booster version, experience?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324612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263640" y="3611879"/>
            <a:ext cx="384048" cy="384048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337560"/>
            <a:ext cx="443484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How has landing success evolved over time?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461772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263640" y="4983480"/>
            <a:ext cx="384048" cy="384048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709159"/>
            <a:ext cx="443484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Can a classifier predict the landing outcome well enough to inform pricing?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4" name="Pentagon 13"/>
          <p:cNvSpPr/>
          <p:nvPr/>
        </p:nvSpPr>
        <p:spPr>
          <a:xfrm>
            <a:off x="768096" y="1645920"/>
            <a:ext cx="2011680" cy="91440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Collect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2697480"/>
            <a:ext cx="18745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" y="2788920"/>
            <a:ext cx="178308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SpaceX API</a:t>
            </a:r>
          </a:p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Web scraping</a:t>
            </a:r>
          </a:p>
        </p:txBody>
      </p:sp>
      <p:sp>
        <p:nvSpPr>
          <p:cNvPr id="17" name="Pentagon 16"/>
          <p:cNvSpPr/>
          <p:nvPr/>
        </p:nvSpPr>
        <p:spPr>
          <a:xfrm>
            <a:off x="2935224" y="1645920"/>
            <a:ext cx="2011680" cy="91440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Wrangle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5224" y="2697480"/>
            <a:ext cx="18745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80944" y="2788920"/>
            <a:ext cx="178308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Missing values</a:t>
            </a:r>
          </a:p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Binary Class</a:t>
            </a:r>
          </a:p>
        </p:txBody>
      </p:sp>
      <p:sp>
        <p:nvSpPr>
          <p:cNvPr id="20" name="Pentagon 19"/>
          <p:cNvSpPr/>
          <p:nvPr/>
        </p:nvSpPr>
        <p:spPr>
          <a:xfrm>
            <a:off x="5102352" y="1645920"/>
            <a:ext cx="2011680" cy="91440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2352" y="2697480"/>
            <a:ext cx="18745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48072" y="2788920"/>
            <a:ext cx="178308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Matplotlib / Seaborn</a:t>
            </a:r>
          </a:p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SQL</a:t>
            </a:r>
          </a:p>
        </p:txBody>
      </p:sp>
      <p:sp>
        <p:nvSpPr>
          <p:cNvPr id="23" name="Pentagon 22"/>
          <p:cNvSpPr/>
          <p:nvPr/>
        </p:nvSpPr>
        <p:spPr>
          <a:xfrm>
            <a:off x="7269480" y="1645920"/>
            <a:ext cx="2011680" cy="91440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Visualise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697480"/>
            <a:ext cx="18745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0" y="2788920"/>
            <a:ext cx="178308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Folium maps</a:t>
            </a:r>
          </a:p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Plotly Dash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6608" y="1645920"/>
            <a:ext cx="2011680" cy="914400"/>
          </a:xfrm>
          <a:prstGeom prst="roundRect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Predict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6608" y="2697480"/>
            <a:ext cx="18745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82328" y="2788920"/>
            <a:ext cx="178308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LR, SVM, Tree, KNN</a:t>
            </a:r>
          </a:p>
          <a:p>
            <a:pPr algn="ctr"/>
            <a:r>
              <a:rPr sz="1400" b="0" i="0">
                <a:solidFill>
                  <a:srgbClr val="0A2A66"/>
                </a:solidFill>
                <a:latin typeface="Calibri"/>
              </a:rPr>
              <a:t>GridSearchCV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3434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5B6577"/>
                </a:solidFill>
                <a:latin typeface="Calibri"/>
              </a:rPr>
              <a:t>Data science methodology: from raw JSON and HTML to a deployable landing predictor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" y="4800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846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B49CB"/>
                </a:solidFill>
                <a:latin typeface="Calibri"/>
              </a:rPr>
              <a:t>Reproducible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212080"/>
            <a:ext cx="31089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alibri"/>
              </a:rPr>
              <a:t>Every step lives in a notebook in the GitHub repository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4256" y="4800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71416" y="4846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B49CB"/>
                </a:solidFill>
                <a:latin typeface="Calibri"/>
              </a:rPr>
              <a:t>Traceable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5212080"/>
            <a:ext cx="31089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alibri"/>
              </a:rPr>
              <a:t>Each result slide links back to the notebook that produced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0416" y="4800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37576" y="4846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B49CB"/>
                </a:solidFill>
                <a:latin typeface="Calibri"/>
              </a:rPr>
              <a:t>Comparable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7576" y="5212080"/>
            <a:ext cx="31089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alibri"/>
              </a:rPr>
              <a:t>Four classifiers tuned with identical splits and folds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8096" y="146304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153619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B49CB"/>
                </a:solidFill>
                <a:latin typeface="Calibri"/>
              </a:rPr>
              <a:t>SpaceX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65960"/>
            <a:ext cx="329184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Launch, rocket, launchpad, payload and core endpoints</a:t>
            </a:r>
          </a:p>
          <a:p>
            <a:pPr marL="228600" indent="-22860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JSON to pandas DataFrame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37947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86791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B49CB"/>
                </a:solidFill>
                <a:latin typeface="Calibri"/>
              </a:rPr>
              <a:t>Wikipedia scraping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329184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Falcon 9 launch records page</a:t>
            </a:r>
          </a:p>
          <a:p>
            <a:pPr marL="228600" indent="-22860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BeautifulSoup parses the HTML tables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34840" y="3063240"/>
            <a:ext cx="548640" cy="457200"/>
          </a:xfrm>
          <a:prstGeom prst="right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ight Arrow 19"/>
          <p:cNvSpPr/>
          <p:nvPr/>
        </p:nvSpPr>
        <p:spPr>
          <a:xfrm>
            <a:off x="4434840" y="3977639"/>
            <a:ext cx="548640" cy="457200"/>
          </a:xfrm>
          <a:prstGeom prst="right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120640" y="1463040"/>
            <a:ext cx="6263640" cy="4434840"/>
          </a:xfrm>
          <a:prstGeom prst="roundRect">
            <a:avLst>
              <a:gd name="adj" fmla="val 6000"/>
            </a:avLst>
          </a:prstGeom>
          <a:solidFill>
            <a:srgbClr val="E8EEFB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03520" y="1554480"/>
            <a:ext cx="5852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B49CB"/>
                </a:solidFill>
                <a:latin typeface="Calibri"/>
              </a:rPr>
              <a:t>Combined launch dataset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057400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FlightNumber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2057400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057400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BoosterVersion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2532888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PayloadMass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532888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Orbit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532888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LaunchSite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3008376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Outcome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3008376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Flights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008376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GridFins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3483864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Reused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3483864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Legs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483864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LandingPad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3959352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Block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3959352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ReusedCount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959352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Serial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4434840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Longitude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3760" y="4434840"/>
            <a:ext cx="1783080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0A2A66"/>
                </a:solidFill>
                <a:latin typeface="Calibri"/>
              </a:rPr>
              <a:t>Latitude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120640"/>
            <a:ext cx="58521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Falcon 9 launches only, one row per launch, 17 descriptive fields.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Data Collection: SpaceX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463040"/>
            <a:ext cx="457200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b="1" sz="1600">
                <a:solidFill>
                  <a:srgbClr val="0A2A66"/>
                </a:solidFill>
                <a:latin typeface="Calibri"/>
              </a:rPr>
              <a:t>Request </a:t>
            </a:r>
            <a:r>
              <a:rPr sz="1600">
                <a:solidFill>
                  <a:srgbClr val="0A2A66"/>
                </a:solidFill>
                <a:latin typeface="Calibri"/>
              </a:rPr>
              <a:t>launch history from the SpaceX v4 REST API</a:t>
            </a:r>
          </a:p>
          <a:p>
            <a:pPr marL="228600" indent="-228600">
              <a:spcAft>
                <a:spcPts val="1000"/>
              </a:spcAft>
              <a:buClr>
                <a:srgbClr val="0B49CB"/>
              </a:buClr>
              <a:buChar char="•"/>
            </a:pPr>
            <a:r>
              <a:rPr b="1" sz="1600">
                <a:solidFill>
                  <a:srgbClr val="0A2A66"/>
                </a:solidFill>
                <a:latin typeface="Calibri"/>
              </a:rPr>
              <a:t>Resolve </a:t>
            </a:r>
            <a:r>
              <a:rPr sz="1600">
                <a:solidFill>
                  <a:srgbClr val="0A2A66"/>
                </a:solidFill>
                <a:latin typeface="Calibri"/>
              </a:rPr>
              <a:t>rocket, launchpad, payload and core IDs with helper functions</a:t>
            </a:r>
          </a:p>
          <a:p>
            <a:pPr marL="228600" indent="-228600">
              <a:spcAft>
                <a:spcPts val="1000"/>
              </a:spcAft>
              <a:buClr>
                <a:srgbClr val="0B49CB"/>
              </a:buClr>
              <a:buChar char="•"/>
            </a:pPr>
            <a:r>
              <a:rPr b="1" sz="1600">
                <a:solidFill>
                  <a:srgbClr val="0A2A66"/>
                </a:solidFill>
                <a:latin typeface="Calibri"/>
              </a:rPr>
              <a:t>Filter </a:t>
            </a:r>
            <a:r>
              <a:rPr sz="1600">
                <a:solidFill>
                  <a:srgbClr val="0A2A66"/>
                </a:solidFill>
                <a:latin typeface="Calibri"/>
              </a:rPr>
              <a:t>Falcon 9 only, single-core, single-payload launches</a:t>
            </a:r>
          </a:p>
          <a:p>
            <a:pPr marL="228600" indent="-228600">
              <a:spcAft>
                <a:spcPts val="1000"/>
              </a:spcAft>
              <a:buClr>
                <a:srgbClr val="0B49CB"/>
              </a:buClr>
              <a:buChar char="•"/>
            </a:pPr>
            <a:r>
              <a:rPr b="1" sz="1600">
                <a:solidFill>
                  <a:srgbClr val="0A2A66"/>
                </a:solidFill>
                <a:latin typeface="Calibri"/>
              </a:rPr>
              <a:t>Clean </a:t>
            </a:r>
            <a:r>
              <a:rPr sz="1600">
                <a:solidFill>
                  <a:srgbClr val="0A2A66"/>
                </a:solidFill>
                <a:latin typeface="Calibri"/>
              </a:rPr>
              <a:t>replace missing PayloadMass with the mean</a:t>
            </a:r>
          </a:p>
        </p:txBody>
      </p:sp>
      <p:sp>
        <p:nvSpPr>
          <p:cNvPr id="8" name="GitHub link"/>
          <p:cNvSpPr/>
          <p:nvPr/>
        </p:nvSpPr>
        <p:spPr>
          <a:xfrm>
            <a:off x="768096" y="4892040"/>
            <a:ext cx="742950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GitHub: github.com/&lt;your-username&gt;/&lt;your-repo&gt;/jupyter-labs-spacex-data-collection-api.ipynb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17320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0B49CB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GET /v4/launches/past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641080" y="2002536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675120" y="2176272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A2A66"/>
                </a:solidFill>
                <a:latin typeface="Calibri"/>
              </a:rPr>
              <a:t>json_normalize to DataFrame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641080" y="2761488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75120" y="2935224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A2A66"/>
                </a:solidFill>
                <a:latin typeface="Calibri"/>
              </a:rPr>
              <a:t>Call helper APIs for IDs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641080" y="3520440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675120" y="3694176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A2A66"/>
                </a:solidFill>
                <a:latin typeface="Calibri"/>
              </a:rPr>
              <a:t>Keep Falcon 9 launches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641080" y="4279392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675120" y="4453128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A2A66"/>
                </a:solidFill>
                <a:latin typeface="Calibri"/>
              </a:rPr>
              <a:t>Impute missing payload mass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641080" y="5038344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675120" y="5212079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0B49CB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Export dataset_part_1.csv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3400">
                <a:solidFill>
                  <a:srgbClr val="0B49CB"/>
                </a:solidFill>
                <a:latin typeface="Abadi"/>
              </a:rPr>
              <a:t>Data Collection: Web Scraping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463040"/>
            <a:ext cx="457200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b="1" sz="1600">
                <a:solidFill>
                  <a:srgbClr val="0A2A66"/>
                </a:solidFill>
                <a:latin typeface="Calibri"/>
              </a:rPr>
              <a:t>Request </a:t>
            </a:r>
            <a:r>
              <a:rPr sz="1600">
                <a:solidFill>
                  <a:srgbClr val="0A2A66"/>
                </a:solidFill>
                <a:latin typeface="Calibri"/>
              </a:rPr>
              <a:t>the Falcon 9 launch records page with an HTTP GET</a:t>
            </a:r>
          </a:p>
          <a:p>
            <a:pPr marL="228600" indent="-228600">
              <a:spcAft>
                <a:spcPts val="1000"/>
              </a:spcAft>
              <a:buClr>
                <a:srgbClr val="0B49CB"/>
              </a:buClr>
              <a:buChar char="•"/>
            </a:pPr>
            <a:r>
              <a:rPr b="1" sz="1600">
                <a:solidFill>
                  <a:srgbClr val="0A2A66"/>
                </a:solidFill>
                <a:latin typeface="Calibri"/>
              </a:rPr>
              <a:t>Parse </a:t>
            </a:r>
            <a:r>
              <a:rPr sz="1600">
                <a:solidFill>
                  <a:srgbClr val="0A2A66"/>
                </a:solidFill>
                <a:latin typeface="Calibri"/>
              </a:rPr>
              <a:t>HTML with BeautifulSoup</a:t>
            </a:r>
          </a:p>
          <a:p>
            <a:pPr marL="228600" indent="-228600">
              <a:spcAft>
                <a:spcPts val="1000"/>
              </a:spcAft>
              <a:buClr>
                <a:srgbClr val="0B49CB"/>
              </a:buClr>
              <a:buChar char="•"/>
            </a:pPr>
            <a:r>
              <a:rPr b="1" sz="1600">
                <a:solidFill>
                  <a:srgbClr val="0A2A66"/>
                </a:solidFill>
                <a:latin typeface="Calibri"/>
              </a:rPr>
              <a:t>Extract </a:t>
            </a:r>
            <a:r>
              <a:rPr sz="1600">
                <a:solidFill>
                  <a:srgbClr val="0A2A66"/>
                </a:solidFill>
                <a:latin typeface="Calibri"/>
              </a:rPr>
              <a:t>column names and every launch row from the launch tables</a:t>
            </a:r>
          </a:p>
          <a:p>
            <a:pPr marL="228600" indent="-228600">
              <a:spcAft>
                <a:spcPts val="1000"/>
              </a:spcAft>
              <a:buClr>
                <a:srgbClr val="0B49CB"/>
              </a:buClr>
              <a:buChar char="•"/>
            </a:pPr>
            <a:r>
              <a:rPr b="1" sz="1600">
                <a:solidFill>
                  <a:srgbClr val="0A2A66"/>
                </a:solidFill>
                <a:latin typeface="Calibri"/>
              </a:rPr>
              <a:t>Assemble </a:t>
            </a:r>
            <a:r>
              <a:rPr sz="1600">
                <a:solidFill>
                  <a:srgbClr val="0A2A66"/>
                </a:solidFill>
                <a:latin typeface="Calibri"/>
              </a:rPr>
              <a:t>a dictionary into a pandas DataFrame</a:t>
            </a:r>
          </a:p>
        </p:txBody>
      </p:sp>
      <p:sp>
        <p:nvSpPr>
          <p:cNvPr id="8" name="GitHub link"/>
          <p:cNvSpPr/>
          <p:nvPr/>
        </p:nvSpPr>
        <p:spPr>
          <a:xfrm>
            <a:off x="768096" y="4892040"/>
            <a:ext cx="640080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GitHub: github.com/&lt;your-username&gt;/&lt;your-repo&gt;/jupyter-labs-webscraping.ipynb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17320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0B49CB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HTTP GET Wikipedia page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641080" y="2002536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675120" y="2176272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A2A66"/>
                </a:solidFill>
                <a:latin typeface="Calibri"/>
              </a:rPr>
              <a:t>BeautifulSoup parse HTML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641080" y="2761488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75120" y="2935224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A2A66"/>
                </a:solidFill>
                <a:latin typeface="Calibri"/>
              </a:rPr>
              <a:t>Locate launch tables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641080" y="3520440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675120" y="3694176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A2A66"/>
                </a:solidFill>
                <a:latin typeface="Calibri"/>
              </a:rPr>
              <a:t>Loop rows: date, booster, site, payload, outcome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641080" y="4279392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675120" y="4453128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A2A66"/>
                </a:solidFill>
                <a:latin typeface="Calibri"/>
              </a:rPr>
              <a:t>Build dict to DataFrame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641080" y="5038344"/>
            <a:ext cx="274320" cy="164592"/>
          </a:xfrm>
          <a:prstGeom prst="down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675120" y="5212079"/>
            <a:ext cx="4206240" cy="566928"/>
          </a:xfrm>
          <a:prstGeom prst="roundRect">
            <a:avLst>
              <a:gd name="adj" fmla="val 25000"/>
            </a:avLst>
          </a:prstGeom>
          <a:solidFill>
            <a:srgbClr val="0B49CB"/>
          </a:solidFill>
          <a:ln w="15875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Export CSV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  <p:sp>
        <p:nvSpPr>
          <p:cNvPr id="9" name="Pentagon 8"/>
          <p:cNvSpPr/>
          <p:nvPr/>
        </p:nvSpPr>
        <p:spPr>
          <a:xfrm>
            <a:off x="768096" y="1463040"/>
            <a:ext cx="2057400" cy="82296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Load dataset</a:t>
            </a:r>
          </a:p>
        </p:txBody>
      </p:sp>
      <p:sp>
        <p:nvSpPr>
          <p:cNvPr id="10" name="Pentagon 9"/>
          <p:cNvSpPr/>
          <p:nvPr/>
        </p:nvSpPr>
        <p:spPr>
          <a:xfrm>
            <a:off x="2907791" y="1463040"/>
            <a:ext cx="2057400" cy="82296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Inspect nulls</a:t>
            </a:r>
          </a:p>
        </p:txBody>
      </p:sp>
      <p:sp>
        <p:nvSpPr>
          <p:cNvPr id="11" name="Pentagon 10"/>
          <p:cNvSpPr/>
          <p:nvPr/>
        </p:nvSpPr>
        <p:spPr>
          <a:xfrm>
            <a:off x="5047488" y="1463040"/>
            <a:ext cx="2057400" cy="82296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Count by site, orbit, outcome</a:t>
            </a:r>
          </a:p>
        </p:txBody>
      </p:sp>
      <p:sp>
        <p:nvSpPr>
          <p:cNvPr id="12" name="Pentagon 11"/>
          <p:cNvSpPr/>
          <p:nvPr/>
        </p:nvSpPr>
        <p:spPr>
          <a:xfrm>
            <a:off x="7187183" y="1463040"/>
            <a:ext cx="2057400" cy="82296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Map outcomes to Class</a:t>
            </a:r>
          </a:p>
        </p:txBody>
      </p:sp>
      <p:sp>
        <p:nvSpPr>
          <p:cNvPr id="13" name="Pentagon 12"/>
          <p:cNvSpPr/>
          <p:nvPr/>
        </p:nvSpPr>
        <p:spPr>
          <a:xfrm>
            <a:off x="9326880" y="1463040"/>
            <a:ext cx="2057400" cy="822960"/>
          </a:xfrm>
          <a:prstGeom prst="homePlat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Success rate = mean(Class)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606040"/>
            <a:ext cx="58521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2697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Landing outcome to training label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50976" y="3154680"/>
          <a:ext cx="5486398" cy="21214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45776"/>
                <a:gridCol w="2789694"/>
                <a:gridCol w="650928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True ASDS / RTLS / Ocean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Landed (drone ship, ground pad, ocean)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False ASDS / RTLS / Ocean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Landing attempted but failed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None ASDS / None 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No landing attempted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50976" y="534924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B6577"/>
                </a:solidFill>
                <a:latin typeface="Calibri"/>
              </a:rPr>
              <a:t>The Class column becomes the target variable for every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2606040"/>
            <a:ext cx="44805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86600" y="26974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Checks performed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154680"/>
            <a:ext cx="411480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Missing PayloadMass imputed with the mean</a:t>
            </a:r>
          </a:p>
          <a:p>
            <a:pPr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LandingPad nulls kept: no pad means no landing attempt</a:t>
            </a:r>
          </a:p>
          <a:p>
            <a:pPr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Launch counts per site, orbit and mission outcome</a:t>
            </a:r>
          </a:p>
        </p:txBody>
      </p:sp>
      <p:sp>
        <p:nvSpPr>
          <p:cNvPr id="21" name="GitHub link"/>
          <p:cNvSpPr/>
          <p:nvPr/>
        </p:nvSpPr>
        <p:spPr>
          <a:xfrm>
            <a:off x="768096" y="5943600"/>
            <a:ext cx="708660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GitHub: github.com/&lt;your-username&gt;/&lt;your-repo&gt;/labs-jupyter-spacex-Data wrangling.ipynb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" y="1463040"/>
          <a:ext cx="10607038" cy="37124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72844"/>
                <a:gridCol w="3818534"/>
                <a:gridCol w="551566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Chart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this chart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Scatter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Flight number vs launch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Does experience at a pad improve outcomes?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Scatter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Payload vs launch site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Do pads handle different payload ranges?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Success rate by orbit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Which orbits are easiest to land from?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Scatter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Flight number vs orbit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Which orbits were flown early or late?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Scatter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Payload vs orbit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How does mass relate to orbit and outcome?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Yearly success rate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Is there a clear learning curve over time?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</a:tbl>
          </a:graphicData>
        </a:graphic>
      </p:graphicFrame>
      <p:sp>
        <p:nvSpPr>
          <p:cNvPr id="6" name="GitHub link"/>
          <p:cNvSpPr/>
          <p:nvPr/>
        </p:nvSpPr>
        <p:spPr>
          <a:xfrm>
            <a:off x="768096" y="5440680"/>
            <a:ext cx="544068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GitHub: github.com/&lt;your-username&gt;/&lt;your-repo&gt;/edadataviz.ipynb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44068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300" b="0" i="1">
                <a:solidFill>
                  <a:srgbClr val="5B6577"/>
                </a:solidFill>
                <a:latin typeface="Calibri"/>
              </a:rPr>
              <a:t>Green = landed, red = failed in every chart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EDA with SQL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05256" y="157276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3895" y="146304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Unique launch 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224028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05256" y="239572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895" y="228600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Five launches from sites starting with CCA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06324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05256" y="321868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5" y="310896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Total payload carried for NASA (CRS)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88620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05256" y="404164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393192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Average payload of booster F9 v1.1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70916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05256" y="486460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5" y="475488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First successful ground-pad landing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41732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300216" y="157276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6" y="146304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Drone-ship successes with payload 4,000-6,000 kg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224028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300216" y="239572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228600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Count of success and failure mission outcomes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306324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300216" y="321868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6" y="310896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Boosters that carried the maximum payload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388620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300216" y="404164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8856" y="393192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2015 drone-ship landing failures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470916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00216" y="4864608"/>
            <a:ext cx="402336" cy="402336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8856" y="4754880"/>
            <a:ext cx="443484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Landing outcomes ranked, 2010-06-04 to 2017-03-20</a:t>
            </a:r>
          </a:p>
        </p:txBody>
      </p:sp>
      <p:sp>
        <p:nvSpPr>
          <p:cNvPr id="35" name="GitHub link"/>
          <p:cNvSpPr/>
          <p:nvPr/>
        </p:nvSpPr>
        <p:spPr>
          <a:xfrm>
            <a:off x="768096" y="5623560"/>
            <a:ext cx="729234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GitHub: github.com/&lt;your-username&gt;/&lt;your-repo&gt;/jupyter-labs-eda-sql-coursera_sqllite.ipynb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23560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300" b="0" i="1">
                <a:solidFill>
                  <a:srgbClr val="5B6577"/>
                </a:solidFill>
                <a:latin typeface="Calibri"/>
              </a:rPr>
              <a:t>SQLite database queried from Jupyter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" y="1463040"/>
          <a:ext cx="10607040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023360"/>
                <a:gridCol w="438912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Map object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it was added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Circle + Marker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Each launch site, with the NASA JSC reference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Locate sites and compare their surroundings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MarkerCluster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Every launch, green = success and red = failure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Spot which sites win or lose most often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MousePosition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Live latitude and longitude on hover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Read coordinates to measure distances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PolyLine + distance label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Site to coastline, railway, highway and city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A2A66"/>
                          </a:solidFill>
                          <a:latin typeface="Calibri"/>
                        </a:rPr>
                        <a:t>Quantify how close each site is to infrastructure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</a:tbl>
          </a:graphicData>
        </a:graphic>
      </p:graphicFrame>
      <p:sp>
        <p:nvSpPr>
          <p:cNvPr id="6" name="GitHub link"/>
          <p:cNvSpPr/>
          <p:nvPr/>
        </p:nvSpPr>
        <p:spPr>
          <a:xfrm>
            <a:off x="768096" y="5074920"/>
            <a:ext cx="694944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GitHub: github.com/&lt;your-username&gt;/&lt;your-repo&gt;/lab_jupyter_launch_site_location.ipynb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532120"/>
            <a:ext cx="106070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5B6577"/>
                </a:solidFill>
                <a:latin typeface="Calibri"/>
              </a:rPr>
              <a:t>Sites cluster near coastlines (safe over-water trajectories) and far from cities.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Build a Dashboard with Plotly Dash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508760"/>
            <a:ext cx="3200400" cy="731520"/>
          </a:xfrm>
          <a:prstGeom prst="roundRect">
            <a:avLst>
              <a:gd name="adj" fmla="val 20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3317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5256" y="2468880"/>
            <a:ext cx="29260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Launch-site dropdown</a:t>
            </a:r>
          </a:p>
          <a:p>
            <a:pPr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Payload range slider (0-10,000 kg)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14215" y="1737360"/>
            <a:ext cx="365760" cy="274320"/>
          </a:xfrm>
          <a:prstGeom prst="right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425696" y="1508760"/>
            <a:ext cx="3200400" cy="731520"/>
          </a:xfrm>
          <a:prstGeom prst="roundRect">
            <a:avLst>
              <a:gd name="adj" fmla="val 20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Callbacks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3317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2856" y="2468880"/>
            <a:ext cx="29260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Filter the data frame</a:t>
            </a:r>
          </a:p>
          <a:p>
            <a:pPr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Return updated figures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71816" y="1737360"/>
            <a:ext cx="365760" cy="274320"/>
          </a:xfrm>
          <a:prstGeom prst="rightArrow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083296" y="1508760"/>
            <a:ext cx="3200400" cy="731520"/>
          </a:xfrm>
          <a:prstGeom prst="roundRect">
            <a:avLst>
              <a:gd name="adj" fmla="val 20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3317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0456" y="2468880"/>
            <a:ext cx="29260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Success pie chart</a:t>
            </a:r>
          </a:p>
          <a:p>
            <a:pPr marL="228600" indent="-228600">
              <a:spcAft>
                <a:spcPts val="8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Payload vs outcome scatter, coloured by booster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Why these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70916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0A2A66"/>
                </a:solidFill>
                <a:latin typeface="Calibri"/>
              </a:rPr>
              <a:t/>
            </a:r>
            <a:r>
              <a:rPr sz="1500">
                <a:solidFill>
                  <a:srgbClr val="0A2A66"/>
                </a:solidFill>
                <a:latin typeface="Calibri"/>
              </a:rPr>
              <a:t>Dropdown: compare a single site with all sites without writing new code</a:t>
            </a:r>
          </a:p>
          <a:p>
            <a:pPr marL="228600" indent="-22860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>
                <a:solidFill>
                  <a:srgbClr val="0A2A66"/>
                </a:solidFill>
                <a:latin typeface="Calibri"/>
              </a:rPr>
              <a:t>Slider: test whether payload mass changes success, booster by booster</a:t>
            </a:r>
          </a:p>
        </p:txBody>
      </p:sp>
      <p:sp>
        <p:nvSpPr>
          <p:cNvPr id="18" name="GitHub link"/>
          <p:cNvSpPr/>
          <p:nvPr/>
        </p:nvSpPr>
        <p:spPr>
          <a:xfrm>
            <a:off x="768096" y="5852160"/>
            <a:ext cx="557784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GitHub: github.com/&lt;your-username&gt;/&lt;your-repo&gt;/spacex_dash_app.py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sp>
        <p:nvSpPr>
          <p:cNvPr id="5" name="Pentagon 4"/>
          <p:cNvSpPr/>
          <p:nvPr/>
        </p:nvSpPr>
        <p:spPr>
          <a:xfrm>
            <a:off x="768096" y="1463040"/>
            <a:ext cx="2057400" cy="86868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One-hot encode</a:t>
            </a:r>
          </a:p>
        </p:txBody>
      </p:sp>
      <p:sp>
        <p:nvSpPr>
          <p:cNvPr id="6" name="Pentagon 5"/>
          <p:cNvSpPr/>
          <p:nvPr/>
        </p:nvSpPr>
        <p:spPr>
          <a:xfrm>
            <a:off x="2907791" y="1463040"/>
            <a:ext cx="2057400" cy="86868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Standardise</a:t>
            </a:r>
          </a:p>
        </p:txBody>
      </p:sp>
      <p:sp>
        <p:nvSpPr>
          <p:cNvPr id="7" name="Pentagon 6"/>
          <p:cNvSpPr/>
          <p:nvPr/>
        </p:nvSpPr>
        <p:spPr>
          <a:xfrm>
            <a:off x="5047488" y="1463040"/>
            <a:ext cx="2057400" cy="86868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80/20 split</a:t>
            </a:r>
          </a:p>
        </p:txBody>
      </p:sp>
      <p:sp>
        <p:nvSpPr>
          <p:cNvPr id="8" name="Pentagon 7"/>
          <p:cNvSpPr/>
          <p:nvPr/>
        </p:nvSpPr>
        <p:spPr>
          <a:xfrm>
            <a:off x="7187183" y="1463040"/>
            <a:ext cx="2057400" cy="868680"/>
          </a:xfrm>
          <a:prstGeom prst="homePlat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GridSearchCV, 10 folds</a:t>
            </a:r>
          </a:p>
        </p:txBody>
      </p:sp>
      <p:sp>
        <p:nvSpPr>
          <p:cNvPr id="9" name="Pentagon 8"/>
          <p:cNvSpPr/>
          <p:nvPr/>
        </p:nvSpPr>
        <p:spPr>
          <a:xfrm>
            <a:off x="9326880" y="1463040"/>
            <a:ext cx="2057400" cy="868680"/>
          </a:xfrm>
          <a:prstGeom prst="homePlat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 accuracy and confusion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2651760"/>
            <a:ext cx="512064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74320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Features (15)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00400"/>
            <a:ext cx="4754880" cy="2560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Flight number, payload mass, booster block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Orbit (one-hot, 8 categories)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Launch site (one-hot, 4 sites)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Target: Class (1 = first stage landed)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651760"/>
            <a:ext cx="512064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Models and search 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00400"/>
            <a:ext cx="4754880" cy="2560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b="1" sz="1400">
                <a:solidFill>
                  <a:srgbClr val="0A2A66"/>
                </a:solidFill>
                <a:latin typeface="Calibri"/>
              </a:rPr>
              <a:t>Logistic Regression: </a:t>
            </a:r>
            <a:r>
              <a:rPr sz="1400">
                <a:solidFill>
                  <a:srgbClr val="0A2A66"/>
                </a:solidFill>
                <a:latin typeface="Calibri"/>
              </a:rPr>
              <a:t>C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b="1" sz="1400">
                <a:solidFill>
                  <a:srgbClr val="0A2A66"/>
                </a:solidFill>
                <a:latin typeface="Calibri"/>
              </a:rPr>
              <a:t>SVM: </a:t>
            </a:r>
            <a:r>
              <a:rPr sz="1400">
                <a:solidFill>
                  <a:srgbClr val="0A2A66"/>
                </a:solidFill>
                <a:latin typeface="Calibri"/>
              </a:rPr>
              <a:t>kernel, C, gamma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b="1" sz="1400">
                <a:solidFill>
                  <a:srgbClr val="0A2A66"/>
                </a:solidFill>
                <a:latin typeface="Calibri"/>
              </a:rPr>
              <a:t>Decision Tree: </a:t>
            </a:r>
            <a:r>
              <a:rPr sz="1400">
                <a:solidFill>
                  <a:srgbClr val="0A2A66"/>
                </a:solidFill>
                <a:latin typeface="Calibri"/>
              </a:rPr>
              <a:t>criterion, depth, leaf and split sizes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b="1" sz="1400">
                <a:solidFill>
                  <a:srgbClr val="0A2A66"/>
                </a:solidFill>
                <a:latin typeface="Calibri"/>
              </a:rPr>
              <a:t>KNN: </a:t>
            </a:r>
            <a:r>
              <a:rPr sz="1400">
                <a:solidFill>
                  <a:srgbClr val="0A2A66"/>
                </a:solidFill>
                <a:latin typeface="Calibri"/>
              </a:rPr>
              <a:t>k = 1-10, Manhattan or Euclidean</a:t>
            </a:r>
          </a:p>
        </p:txBody>
      </p:sp>
      <p:sp>
        <p:nvSpPr>
          <p:cNvPr id="16" name="GitHub link"/>
          <p:cNvSpPr/>
          <p:nvPr/>
        </p:nvSpPr>
        <p:spPr>
          <a:xfrm>
            <a:off x="768096" y="5943600"/>
            <a:ext cx="756666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GitHub: github.com/&lt;your-username&gt;/&lt;your-repo&gt;/SpaceX_Machine_Learning_Prediction_Part_5.ipynb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8096" y="1554480"/>
            <a:ext cx="34290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96695" y="1783080"/>
            <a:ext cx="502920" cy="50292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46888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0A2A66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200400"/>
            <a:ext cx="301752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Learning curve: success rose from 0% (2014) to 88% (2020). Newer boosters land far more often.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54480"/>
            <a:ext cx="34290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608576" y="1783080"/>
            <a:ext cx="502920" cy="502920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6888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0A2A66"/>
                </a:solidFill>
                <a:latin typeface="Calibri"/>
              </a:rPr>
              <a:t>Interactive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200400"/>
            <a:ext cx="301752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Folium maps and a Plotly Dash dashboard show KSC LC-39A as the strongest site.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554480"/>
            <a:ext cx="34290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20456" y="1783080"/>
            <a:ext cx="502920" cy="502920"/>
          </a:xfrm>
          <a:prstGeom prst="ellipse">
            <a:avLst/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46888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0A2A66"/>
                </a:solidFill>
                <a:latin typeface="Calibri"/>
              </a:rPr>
              <a:t>Predictive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200400"/>
            <a:ext cx="301752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A tuned Decision Tree is best (test accuracy 71%), though the test set is small.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6692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5B6577"/>
                </a:solidFill>
                <a:latin typeface="Calibri"/>
              </a:rPr>
              <a:t>Plus two new insights on booster era and payload headroom, then a pricing playbook for Space Y.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Flight Number vs. Launch 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fn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71600"/>
            <a:ext cx="7040880" cy="37803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417320"/>
            <a:ext cx="3291840" cy="3730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1965960"/>
            <a:ext cx="2926080" cy="30906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CCAFS LC-40 hosted flights 1-28, mostly failed early on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KSC LC-39A opens at flight 30 and mostly lands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Later flights land more often overall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Source: spacex_launch_dash.csv (56 landing-attempt launches)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  <p:pic>
        <p:nvPicPr>
          <p:cNvPr id="6" name="Picture 5" descr="pl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71600"/>
            <a:ext cx="7040880" cy="37803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417320"/>
            <a:ext cx="3291840" cy="3730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1965960"/>
            <a:ext cx="2926080" cy="30906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VAFB SLC-4E flies payloads up to 9,600 kg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KSC LC-39A median payload: 3,697 kg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CCAFS LC-40 spans 0-5,271 kg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Heavier loads mostly fly from KSC and VAFB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Source: spacex_launch_dash.csv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8096" y="1371600"/>
          <a:ext cx="70408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92440" y="141732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1965960"/>
            <a:ext cx="292608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SSO (83%) and LEO (80%) land most often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GTO and ISS missions land about half the time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Orbits with n below 3 are excluded: too few launches to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Source: SpaceX launch table, landing success = Landing_Outcome starts with Success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fn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71600"/>
            <a:ext cx="7040880" cy="37803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417320"/>
            <a:ext cx="3291840" cy="3730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1965960"/>
            <a:ext cx="2926080" cy="30906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LEO and ISS missions run through the whole timeline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GTO first appears at flight 7 and recurs throughout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Newer flights succeed across orbits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Source: SpaceX launch table, flight number = chronological order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Payload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pl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71600"/>
            <a:ext cx="7040880" cy="37803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417320"/>
            <a:ext cx="3291840" cy="3730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1965960"/>
            <a:ext cx="2926080" cy="30906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GTO payloads cluster at 3,100-7,075 kg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LEO carries the heaviest loads, up to 15,600 kg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Heavy LEO launches mostly 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Source: SpaceX launch table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8096" y="1371600"/>
          <a:ext cx="70408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92440" y="141732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1965960"/>
            <a:ext cx="292608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No successful landing before 2015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Big jump in 2016 as drone-ship landings arrived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88% success in 2020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2018 dip: heavy missions flown without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Source: SpaceX launch table (101 launches, 2010-2020)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DISTINCT Launch_Site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1417320"/>
          <a:ext cx="548640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Launch_Site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VAFB SLC-4E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KSC LC-39A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CCAFS SLC-40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DISTINCT collapses the table to the four launch sites used: three on the Florida coast (CCAFS LC-40, CCAFS SLC-40, KSC LC-39A) and one in California (VAFB SLC-4E).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*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WHERE Launch_Site LIKE 'CCA%'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LIMIT 5;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1417320"/>
          <a:ext cx="5486398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77030"/>
                <a:gridCol w="1352810"/>
                <a:gridCol w="1127342"/>
                <a:gridCol w="601249"/>
                <a:gridCol w="1427967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Booster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Landing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2010-06-04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F9 v1.0 B0003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Failure (parachute)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2010-12-08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F9 v1.0 B0004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Failure (parachute)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2012-05-22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F9 v1.0 B0005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525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No attempt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2012-10-08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F9 v1.0 B0006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No attempt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2013-03-01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F9 v1.0 B0007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677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2A66"/>
                          </a:solidFill>
                          <a:latin typeface="Calibri"/>
                        </a:rPr>
                        <a:t>No attempt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LIKE with a wildcard finds both Cape Canaveral pads. The first five launches (2010-2013) were early F9 v1.0 flights, none of which landed.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SUM(PAYLOAD_MASS__KG_)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WHERE Customer = 'NASA (CRS)';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41732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89320" y="1508760"/>
            <a:ext cx="5303520" cy="1325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800" b="1" i="0">
                <a:solidFill>
                  <a:srgbClr val="0B49CB"/>
                </a:solidFill>
                <a:latin typeface="Calibri"/>
              </a:rPr>
              <a:t>45,596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796235"/>
            <a:ext cx="5303520" cy="116677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total payload for NASA (CRS)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Boosters have carried 45,596 kg of cargo for NASA Commercial Resupply Services, the supply missions to the International Space Station.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AVG(PAYLOAD_MASS__KG_)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WHERE Booster_Version = 'F9 v1.1';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41732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89320" y="1508760"/>
            <a:ext cx="5303520" cy="1325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800" b="1" i="0">
                <a:solidFill>
                  <a:srgbClr val="0B49CB"/>
                </a:solidFill>
                <a:latin typeface="Calibri"/>
              </a:rPr>
              <a:t>2,928.4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796235"/>
            <a:ext cx="5303520" cy="116677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average payload, booster F9 v1.1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The F9 v1.1 booster averaged about 2,928 kg per launch, well below later boosters that carried up to 15,600 kg.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MIN(Date)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WHERE Landing_Outcome =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'Success (ground pad)';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41732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89320" y="1508760"/>
            <a:ext cx="5303520" cy="1325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800" b="1" i="0">
                <a:solidFill>
                  <a:srgbClr val="0B49CB"/>
                </a:solidFill>
                <a:latin typeface="Calibri"/>
              </a:rPr>
              <a:t>2015-12-22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796235"/>
            <a:ext cx="5303520" cy="116677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first ground-pad landing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The first ground-pad landing took place on 2015-12-22, on the OG2 Mission 2 flight carrying 11 Orbcomm satellites. It marked the start of routine booster recovery.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Drone Ship Successes, Payload 4,000-6,000 kg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Booster_Version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WHERE Landing_Outcome =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'Success (drone ship)'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AND PAYLOAD_MASS__KG_ &gt; 4000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AND PAYLOAD_MASS__KG_ &lt; 6000;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897880" y="1417320"/>
          <a:ext cx="548640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Booster_Version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F9 FT B1022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F9 FT B1026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F9 FT B1021.2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F9 FT B1031.2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Four Falcon 9 Full Thrust boosters landed on a drone ship while carrying mid-weight payloads, evidence that heavier launches can still be recovered.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Successful and Failed Mission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Mission_Outcome,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COUNT(*) AS total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GROUP BY Mission_Outcome;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1417320"/>
          <a:ext cx="548640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Failure (in flight)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100 of 101 missions succeeded: more than 99%. Mission success is separate from booster landing: a mission can succeed even when the booster is not recovered.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Boosters Carried Maximum Payload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DISTINCT Booster_Version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WHERE PAYLOAD_MASS__KG_ = (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SELECT MAX(PAYLOAD_MASS__KG_)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FROM SPACEXTBL);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1417320"/>
          <a:ext cx="5486400" cy="265175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Booster_Version (15,600 kg)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F9 B5 B1048.4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F9 B5 B1049.4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F9 B5 B1051.3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F9 B5 B1056.4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F9 B5 B1048.5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2A66"/>
                          </a:solidFill>
                          <a:latin typeface="Calibri"/>
                        </a:rPr>
                        <a:t>F9 B5 B1051.4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A subquery finds the maximum payload, 15,600 kg. 12 different Block 5 boosters carried it, so the heaviest loads are routine for the newest hardware. Six shown.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846320" cy="26517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5720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Date, Booster_Version,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Launch_Site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WHERE Landing_Outcome =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'Failure (drone ship)'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AND substr(Date,1,4) = '2015';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1417320"/>
          <a:ext cx="5486399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0504"/>
                <a:gridCol w="2146852"/>
                <a:gridCol w="178904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Booster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2015-01-10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F9 v1.1 B1012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2015-04-14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F9 v1.1 B1015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A2A66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" y="429768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437083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B49CB"/>
                </a:solidFill>
                <a:latin typeface="Calibri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709160"/>
            <a:ext cx="102412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Both 2015 drone-ship failures were F9 v1.1 boosters launched from CCAFS LC-40, early attempts at a technique that later became routine.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400">
                <a:solidFill>
                  <a:srgbClr val="0B49CB"/>
                </a:solidFill>
                <a:latin typeface="Abadi"/>
              </a:rPr>
              <a:t>Rank Landing Outcomes, 2010-06-04 to 2017-03-20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17320"/>
            <a:ext cx="4572000" cy="448056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29768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SELECT Landing_Outcome,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COUNT(*) AS n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WHERE Date BETWEEN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  "2010-06-04" AND "2017-03-20"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GROUP BY Landing_Outcome</a:t>
            </a:r>
          </a:p>
          <a:p>
            <a:pPr algn="l"/>
            <a:r>
              <a:rPr sz="1300" b="0" i="0">
                <a:solidFill>
                  <a:srgbClr val="0A2A66"/>
                </a:solidFill>
                <a:latin typeface="Courier New"/>
              </a:rPr>
              <a:t>ORDER BY n DESC;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532120" y="1371600"/>
          <a:ext cx="58521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532120" y="4800600"/>
            <a:ext cx="58521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0" y="4846320"/>
            <a:ext cx="5577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A2A66"/>
                </a:solidFill>
                <a:latin typeface="Calibri"/>
              </a:rPr>
              <a:t>"No attempt" leads (10), then drone-ship successes and failures tie at 5. Landing was still experimental in this window.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All Launch Sites Sit Near the Coast</a:t>
            </a:r>
          </a:p>
        </p:txBody>
      </p:sp>
      <p:pic>
        <p:nvPicPr>
          <p:cNvPr id="4" name="Picture 3" descr="m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71600"/>
            <a:ext cx="7040880" cy="32352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92440" y="1417320"/>
            <a:ext cx="3291840" cy="3189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19" y="1965960"/>
            <a:ext cx="2926080" cy="25494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Three sites on Florida's Atlantic coast, one in California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Low latitudes give rockets extra speed from Earth's spin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Coastal sites keep trajectories over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Schematic reproduction of the Folium output, built from launch-site coordinates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Launch Outcomes by Site</a:t>
            </a:r>
          </a:p>
        </p:txBody>
      </p:sp>
      <p:pic>
        <p:nvPicPr>
          <p:cNvPr id="9" name="Picture 8" descr="m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71600"/>
            <a:ext cx="7040880" cy="32352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92440" y="1417320"/>
            <a:ext cx="3291840" cy="3189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965960"/>
            <a:ext cx="2926080" cy="25494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Green = landed, red = failed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KSC LC-39A: 10 of 13 landed (77%)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CCAFS LC-40: 7 of 26 (27%), the oldest and busiest pad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Newer pads show the best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Schematic reproduction of the Folium output, built from launch-site coordinates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Launch Site Proximities: CCAFS SLC-40</a:t>
            </a:r>
          </a:p>
        </p:txBody>
      </p:sp>
      <p:pic>
        <p:nvPicPr>
          <p:cNvPr id="9" name="Picture 8" descr="ma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71600"/>
            <a:ext cx="7040880" cy="32352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92440" y="1417320"/>
            <a:ext cx="3291840" cy="3189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965960"/>
            <a:ext cx="2926080" cy="25494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Coastline ~0.9 km, highway ~0.6 km, railway ~1.3 km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Nearest city ~51 km away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Close to transport links for logistics, far from people for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Schematic, distances approximate (Folium distance lab); not to scale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Launch Success Count by Site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68096" y="1371600"/>
          <a:ext cx="65836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1417320"/>
            <a:ext cx="3749039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19" y="1527048"/>
            <a:ext cx="3383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1965960"/>
            <a:ext cx="3383279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KSC LC-39A holds 41.7% of all successful landings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24 landings across 56 attempts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Dropdown = All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Dashboard view reproduced from spacex_launch_dash.csv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Highest Success Ratio: KSC LC-39A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68096" y="1371600"/>
          <a:ext cx="65836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1417320"/>
            <a:ext cx="3749039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19" y="1527048"/>
            <a:ext cx="338327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1965960"/>
            <a:ext cx="3383279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10 successes, 3 failures: a 76.9% ratio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Next best: CCAFS SLC-40 at 42.9%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All KSC LC-39A launches used modern boosters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Dashboard view reproduced from spacex_launch_dash.csv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Payload vs. Launch Outcome</a:t>
            </a:r>
          </a:p>
        </p:txBody>
      </p:sp>
      <p:pic>
        <p:nvPicPr>
          <p:cNvPr id="13" name="Picture 12" descr="dash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280160"/>
            <a:ext cx="5303520" cy="29417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225295" y="4480560"/>
            <a:ext cx="4389120" cy="91440"/>
          </a:xfrm>
          <a:prstGeom prst="roundRect">
            <a:avLst>
              <a:gd name="adj" fmla="val 50000"/>
            </a:avLst>
          </a:prstGeom>
          <a:solidFill>
            <a:srgbClr val="C8D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25295" y="4480560"/>
            <a:ext cx="4389120" cy="91440"/>
          </a:xfrm>
          <a:prstGeom prst="roundRect">
            <a:avLst>
              <a:gd name="adj" fmla="val 50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124711" y="44256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513831" y="44256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470916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Slider: 0 to 10,000 kg</a:t>
            </a:r>
          </a:p>
        </p:txBody>
      </p:sp>
      <p:pic>
        <p:nvPicPr>
          <p:cNvPr id="19" name="Picture 18" descr="dash_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280160"/>
            <a:ext cx="5303520" cy="294179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03136" y="4480560"/>
            <a:ext cx="4389120" cy="91440"/>
          </a:xfrm>
          <a:prstGeom prst="roundRect">
            <a:avLst>
              <a:gd name="adj" fmla="val 50000"/>
            </a:avLst>
          </a:prstGeom>
          <a:solidFill>
            <a:srgbClr val="C8D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680959" y="4480560"/>
            <a:ext cx="1536192" cy="91440"/>
          </a:xfrm>
          <a:prstGeom prst="roundRect">
            <a:avLst>
              <a:gd name="adj" fmla="val 50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580375" y="44256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16568" y="44256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4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45936" y="470916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Slider: 2,000 to 5,500 kg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" y="512064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0976" y="5166360"/>
            <a:ext cx="50292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2,000-4,000 kg has the best success rate: 62%</a:t>
            </a:r>
          </a:p>
          <a:p>
            <a:pPr marL="228600" indent="-228600">
              <a:spcAft>
                <a:spcPts val="4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Below 2,000 kg: 23%, mostly old v1.0/v1.1 boosters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66360"/>
            <a:ext cx="49377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FT boosters (blue) dominate the successes</a:t>
            </a:r>
          </a:p>
          <a:p>
            <a:pPr marL="228600" indent="-228600">
              <a:spcAft>
                <a:spcPts val="4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B4 landed 6 of 11; the single B5 landed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6263640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Dashboard view reproduced from spacex_launch_dash.csv; slider shown at two settings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68096" y="1371600"/>
          <a:ext cx="70408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092440" y="141732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What it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965960"/>
            <a:ext cx="292608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Decision Tree: best cross-validated accuracy (79%)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Decision Tree and KNN tie on the test set (71%)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Test set is only 21 launches, so one launch moves accuracy by about 5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80/20 split (random_state=2), 15 features, GridSearchCV with 10 folds</a:t>
            </a: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Confusion Matrix: Decision Tree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3120" y="150876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5B6577"/>
                </a:solidFill>
                <a:latin typeface="Calibri"/>
              </a:rPr>
              <a:t>Predicted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8288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Did not 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Landed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182880" y="3291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5B6577"/>
                </a:solidFill>
                <a:latin typeface="Calibri"/>
              </a:rPr>
              <a:t>Actual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300" b="0" i="0">
                <a:solidFill>
                  <a:srgbClr val="5B6577"/>
                </a:solidFill>
                <a:latin typeface="Calibri"/>
              </a:rPr>
              <a:t>Did not 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300" b="0" i="0">
                <a:solidFill>
                  <a:srgbClr val="5B6577"/>
                </a:solidFill>
                <a:latin typeface="Calibri"/>
              </a:rPr>
              <a:t>Landed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148840"/>
            <a:ext cx="2322576" cy="1499616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103120" y="2331720"/>
            <a:ext cx="2322576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54680"/>
            <a:ext cx="2322576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True negative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148840"/>
            <a:ext cx="2322576" cy="149961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80560" y="2331720"/>
            <a:ext cx="2322576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54680"/>
            <a:ext cx="2322576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False positive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3703320"/>
            <a:ext cx="2322576" cy="149961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103120" y="3886200"/>
            <a:ext cx="2322576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709160"/>
            <a:ext cx="2322576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False negative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703320"/>
            <a:ext cx="2322576" cy="1499616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80560" y="3886200"/>
            <a:ext cx="2322576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709160"/>
            <a:ext cx="2322576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True positive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417320"/>
            <a:ext cx="40690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79" y="1527048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Reading the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1965960"/>
            <a:ext cx="370332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Accuracy 71.4% (15 of 21 correct)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Precision 78%: most predicted landings are real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Recall 64%: it misses 4 real landings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Errors lean cautious: more missed landings than false alarms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KNN produced the identical confusion matrix on this split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8096" y="1371600"/>
            <a:ext cx="106070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60120" y="1554480"/>
            <a:ext cx="438912" cy="438912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426464"/>
            <a:ext cx="246888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0A2A66"/>
                </a:solidFill>
                <a:latin typeface="Calibri"/>
              </a:rPr>
              <a:t>Learning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426464"/>
            <a:ext cx="713232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Landing success rose from 0% (2010-14) to 88% (2020) as boosters matured.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276856"/>
            <a:ext cx="106070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60120" y="2459736"/>
            <a:ext cx="438912" cy="438912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331720"/>
            <a:ext cx="246888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0A2A66"/>
                </a:solidFill>
                <a:latin typeface="Calibri"/>
              </a:rPr>
              <a:t>Booster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331720"/>
            <a:ext cx="713232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FT, B4 and B5 boosters land 64% of the time versus 5% for v1.0/v1.1.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3182112"/>
            <a:ext cx="106070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60120" y="3364992"/>
            <a:ext cx="438912" cy="438912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36976"/>
            <a:ext cx="246888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0A2A66"/>
                </a:solidFill>
                <a:latin typeface="Calibri"/>
              </a:rPr>
              <a:t>Site and 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36976"/>
            <a:ext cx="713232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KSC LC-39A leads (77%). Payloads under 4,000 kg land far more often.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" y="4087368"/>
            <a:ext cx="106070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60120" y="4270248"/>
            <a:ext cx="438912" cy="438912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142231"/>
            <a:ext cx="246888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0A2A66"/>
                </a:solidFill>
                <a:latin typeface="Calibri"/>
              </a:rPr>
              <a:t>Best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42231"/>
            <a:ext cx="713232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Decision Tree: CV 79%, test 71%. Promising, but the test set is tiny.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" y="4992624"/>
            <a:ext cx="106070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60120" y="5175504"/>
            <a:ext cx="438912" cy="438912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047488"/>
            <a:ext cx="246888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0A2A66"/>
                </a:solidFill>
                <a:latin typeface="Calibri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47488"/>
            <a:ext cx="713232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0A2A66"/>
                </a:solidFill>
                <a:latin typeface="Calibri"/>
              </a:rPr>
              <a:t>Add landing-pad type, grid fins and reuse count; use time-based validation.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340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8096" y="1417320"/>
            <a:ext cx="5577840" cy="228600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46304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SQL: ranking landing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810512"/>
            <a:ext cx="53035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SELECT Landing_Outcome, COUNT(*) AS n</a:t>
            </a:r>
          </a:p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FROM SPACEXTBL</a:t>
            </a:r>
          </a:p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WHERE Date BETWEEN "2010-06-04"</a:t>
            </a:r>
          </a:p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  AND "2017-03-20"</a:t>
            </a:r>
          </a:p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GROUP BY Landing_Outcome ORDER BY n DESC;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88620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6F8FD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B49CB"/>
                </a:solidFill>
                <a:latin typeface="Calibri"/>
              </a:rPr>
              <a:t>Python: model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79392"/>
            <a:ext cx="530352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gs = GridSearchCV(model, params, cv=10)</a:t>
            </a:r>
          </a:p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gs.fit(X_train, y_train)</a:t>
            </a:r>
          </a:p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print(gs.best_params_, gs.best_score_)</a:t>
            </a:r>
          </a:p>
          <a:p>
            <a:pPr algn="l"/>
            <a:r>
              <a:rPr sz="1200" b="0" i="0">
                <a:solidFill>
                  <a:srgbClr val="0A2A66"/>
                </a:solidFill>
                <a:latin typeface="Courier New"/>
              </a:rPr>
              <a:t>gs.score(X_test, y_test)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417320"/>
            <a:ext cx="48006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66560" y="1481328"/>
            <a:ext cx="4480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Repository and tools</a:t>
            </a:r>
          </a:p>
        </p:txBody>
      </p:sp>
      <p:sp>
        <p:nvSpPr>
          <p:cNvPr id="20" name="GitHub link"/>
          <p:cNvSpPr/>
          <p:nvPr/>
        </p:nvSpPr>
        <p:spPr>
          <a:xfrm>
            <a:off x="6766560" y="1965960"/>
            <a:ext cx="4343400" cy="365760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F2D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7A5200"/>
                </a:solidFill>
                <a:latin typeface="Calibri"/>
              </a:rPr>
              <a:t>Repository: github.com/&lt;your-username&gt;/&lt;your-repo&gt;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560320"/>
            <a:ext cx="443484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0A2A66"/>
                </a:solidFill>
                <a:latin typeface="Calibri"/>
              </a:rPr>
              <a:t/>
            </a:r>
            <a:r>
              <a:rPr sz="1400">
                <a:solidFill>
                  <a:srgbClr val="0A2A66"/>
                </a:solidFill>
                <a:latin typeface="Calibri"/>
              </a:rPr>
              <a:t>SpaceX API, requests, BeautifulSoup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pandas, NumPy, SQLite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Matplotlib, Seaborn, Folium, Plotly Dash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scikit-learn (LR, SVM, Tree, KNN)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400">
                <a:solidFill>
                  <a:srgbClr val="0A2A66"/>
                </a:solidFill>
                <a:latin typeface="Calibri"/>
              </a:rPr>
              <a:t>Datasets: dataset_part_1/2/3.csv, spacex_launch_dash.csv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Insight 1: It Is the Booster, Not the Pad</a:t>
            </a:r>
            <a:endParaRPr lang="en-US">
              <a:solidFill>
                <a:srgbClr val="0B49CB"/>
              </a:solidFill>
            </a:endParaRP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68096" y="1371600"/>
          <a:ext cx="70408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8092440" y="141732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1965960"/>
            <a:ext cx="292608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CCAFS LC-40 looks weak (27%) because it flew the old boosters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With modern boosters only it reaches 75%, level with KSC LC-39A (77%)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Old boosters (v1.0, v1.1) landed 1 of 20; modern ones 23 of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Computed from spacex_launch_dash.csv; confounding by booster era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400">
                <a:solidFill>
                  <a:srgbClr val="0B49CB"/>
                </a:solidFill>
                <a:latin typeface="Abadi"/>
              </a:rPr>
              <a:t>Insight 2: Payload Headroom Drives Landing Odds</a:t>
            </a:r>
            <a:endParaRPr lang="en-US">
              <a:solidFill>
                <a:srgbClr val="0B49CB"/>
              </a:solidFill>
            </a:endParaRP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68096" y="1371600"/>
          <a:ext cx="70408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8092440" y="141732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75319" y="1527048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B49CB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1965960"/>
            <a:ext cx="2926080" cy="3840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 b="0" i="0">
                <a:solidFill>
                  <a:srgbClr val="0A2A66"/>
                </a:solidFill>
                <a:latin typeface="Calibri"/>
              </a:rPr>
              <a:t/>
            </a:r>
            <a:r>
              <a:rPr sz="1600">
                <a:solidFill>
                  <a:srgbClr val="0A2A66"/>
                </a:solidFill>
                <a:latin typeface="Calibri"/>
              </a:rPr>
              <a:t>Modern boosters: 83% success up to 4,000 kg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Falls to 33% above 6,000 kg</a:t>
            </a:r>
          </a:p>
          <a:p>
            <a:pPr marL="228600" indent="-228600">
              <a:spcAft>
                <a:spcPts val="700"/>
              </a:spcAft>
              <a:buClr>
                <a:srgbClr val="0B49CB"/>
              </a:buClr>
              <a:buChar char="•"/>
            </a:pPr>
            <a:r>
              <a:rPr sz="1600">
                <a:solidFill>
                  <a:srgbClr val="0A2A66"/>
                </a:solidFill>
                <a:latin typeface="Calibri"/>
              </a:rPr>
              <a:t>Heavy missions leave less fuel for recovery, and some skip landing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614476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B6577"/>
                </a:solidFill>
                <a:latin typeface="Calibri"/>
              </a:rPr>
              <a:t>Modern boosters only (FT, B4, B5), spacex_launch_dash.csv; class 0 includes no-attempt launches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 sz="2800">
                <a:solidFill>
                  <a:srgbClr val="0B49CB"/>
                </a:solidFill>
                <a:latin typeface="Abadi"/>
              </a:rPr>
              <a:t>Insight 3: Pricing Playbook for Space Y</a:t>
            </a:r>
            <a:endParaRPr lang="en-US">
              <a:solidFill>
                <a:srgbClr val="0B49CB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" y="1417320"/>
          <a:ext cx="10607038" cy="2633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487593"/>
                <a:gridCol w="2447778"/>
                <a:gridCol w="3671667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Mission profile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Landing odds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Bid posture</a:t>
                      </a:r>
                    </a:p>
                  </a:txBody>
                  <a:tcPr marL="73152" marR="73152" marT="27432" marB="27432" anchor="ctr">
                    <a:solidFill>
                      <a:srgbClr val="0B49C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Modern booster, up to 4,000 kg, LEO or SSO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High (about 80%+)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Price near reuse economics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Modern booster, 4,000-6,000 kg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Moderate (about 56%)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Add a recovery-risk margin</a:t>
                      </a:r>
                    </a:p>
                  </a:txBody>
                  <a:tcPr marL="73152" marR="73152" marT="27432" marB="27432" anchor="ctr">
                    <a:solidFill>
                      <a:srgbClr val="F1F5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Heavy, over 6,000 kg, or GTO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Low (about 33-50%)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A2A66"/>
                          </a:solidFill>
                          <a:latin typeface="Calibri"/>
                        </a:rPr>
                        <a:t>Assume expendable pricing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68096" y="429768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" y="4389120"/>
            <a:ext cx="3200400" cy="8001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1E9E5A"/>
                </a:solidFill>
                <a:latin typeface="Calibri"/>
              </a:rPr>
              <a:t>$103M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129784"/>
            <a:ext cx="3200400" cy="7040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headroom per reused stage ($165M minus $62M)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29768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80559" y="4389120"/>
            <a:ext cx="3200400" cy="8001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0B49CB"/>
                </a:solidFill>
                <a:latin typeface="Calibri"/>
              </a:rPr>
              <a:t>62%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129784"/>
            <a:ext cx="3200400" cy="7040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of a competitor price saved by reuse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297680"/>
            <a:ext cx="337413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38160" y="4370832"/>
            <a:ext cx="310896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7"/>
                </a:solidFill>
                <a:latin typeface="Calibri"/>
              </a:rPr>
              <a:t>Odds come from the landing data in this deck; treat the posture column as a starting point, not a quote.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</TotalTime>
  <Words>1347</Words>
  <Application>Microsoft Office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User</cp:lastModifiedBy>
  <cp:revision>199</cp:revision>
  <dcterms:created xsi:type="dcterms:W3CDTF">2021-04-29T18:58:34Z</dcterms:created>
  <dcterms:modified xsi:type="dcterms:W3CDTF">2026-10-14T06:07:13Z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